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Số phép khẳng định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B1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grader</c:v>
                  </c:pt>
                  <c:pt idx="1">
                    <c:v>workflow</c:v>
                  </c:pt>
                  <c:pt idx="2">
                    <c:v>schema</c:v>
                  </c:pt>
                  <c:pt idx="3">
                    <c:v>gemini</c:v>
                  </c:pt>
                  <c:pt idx="4">
                    <c:v>quizService</c:v>
                  </c:pt>
                  <c:pt idx="5">
                    <c:v>adminService</c:v>
                  </c:pt>
                  <c:pt idx="6">
                    <c:v>aiService</c:v>
                  </c:pt>
                  <c:pt idx="7">
                    <c:v>api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24</c:v>
                </c:pt>
                <c:pt idx="1">
                  <c:v>30</c:v>
                </c:pt>
                <c:pt idx="2">
                  <c:v>31</c:v>
                </c:pt>
                <c:pt idx="3">
                  <c:v>18</c:v>
                </c:pt>
                <c:pt idx="4">
                  <c:v>47</c:v>
                </c:pt>
                <c:pt idx="5">
                  <c:v>75</c:v>
                </c:pt>
                <c:pt idx="6">
                  <c:v>36</c:v>
                </c:pt>
                <c:pt idx="7">
                  <c:v>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1B1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B1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5"/>
        </c:scaling>
        <c:delete val="0"/>
        <c:axPos val="b"/>
        <c:majorGridlines>
          <c:spPr>
            <a:ln w="12700" cap="flat">
              <a:solidFill>
                <a:srgbClr val="E6E9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5F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Chào thầy cô. Em xin trình bày đồ án LearnQuiz — nền tảng học tập và quiz trực tuyến, đề tài số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 tầng triển khai độc lập. Trình duyệt không bao giờ gọi thẳng Gemini.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463040"/>
            <a:ext cx="5120640" cy="5120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4206240"/>
            <a:ext cx="3108960" cy="31089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417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ĐỒ ÁN TỐT NGHIỆP  ·  ĐỀ TÀI SỐ 4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82880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LearnQuiz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22960" y="288036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Nền tảng học tập và quiz trực tuyến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822960" y="3794760"/>
            <a:ext cx="6035040" cy="1417320"/>
          </a:xfrm>
          <a:prstGeom prst="roundRect">
            <a:avLst>
              <a:gd name="adj" fmla="val 774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40050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viên thực hiện: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383280" y="398678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VŨ TÂM THIỆN TÍN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51560" y="45720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Giảng viên hướng dẫn: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383280" y="45537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NGUYỄN LÊ HOÀNG THÔNG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5806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E9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Lập trình viên Full-stack JavaScript — Khóa 312  ·  Trung Tâm Tin Học, ĐH Khoa học Tự nhiên, ĐHQG-HCM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Nội dung trình bày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91640"/>
            <a:ext cx="53949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0392" y="2011680"/>
            <a:ext cx="594360" cy="5943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" y="2011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00200" y="192938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toán và phạm vi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600200" y="231343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vai trò, thang điểm 4 – 4 – 2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691640"/>
            <a:ext cx="53949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65392" y="2011680"/>
            <a:ext cx="594360" cy="5943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65392" y="2011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15200" y="192938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Kiến trúc và cơ sở dữ liệu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15200" y="231343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tầng · 11 bảng · 9 ràng buộc toàn vẹn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4360" y="3172968"/>
            <a:ext cx="53949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50392" y="3493008"/>
            <a:ext cx="594360" cy="5943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0392" y="349300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00200" y="341071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quyết định kỹ thuật cốt lõi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600200" y="37947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rò rỉ đáp án · chấm ở máy chủ · máy trạng thái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309360" y="3172968"/>
            <a:ext cx="53949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65392" y="3493008"/>
            <a:ext cx="594360" cy="5943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65392" y="349300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315200" y="341071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Tích hợp AI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315200" y="37947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tính năng Gemini và nguyên tắc kiểm duyệt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94360" y="4654296"/>
            <a:ext cx="53949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50392" y="4974336"/>
            <a:ext cx="594360" cy="5943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50392" y="4974336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600200" y="489204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Kiểm thử và triển khai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600200" y="52760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344 phép kiểm · Docker · CI/CD · Render + Vercel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309360" y="4654296"/>
            <a:ext cx="53949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565392" y="4974336"/>
            <a:ext cx="594360" cy="5943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65392" y="4974336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315200" y="489204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trực tiếp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7315200" y="52760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phút đi qua đủ ba vai trò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toán và mục tiêu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737360"/>
            <a:ext cx="5394960" cy="4114800"/>
          </a:xfrm>
          <a:prstGeom prst="roundRect">
            <a:avLst>
              <a:gd name="adj" fmla="val 2667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Nhu cầu thực tế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14400" y="2423160"/>
            <a:ext cx="47548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Nền tảng thương mại thừa tính năng: thanh toán, tiếp thị, quy mô lớn.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Trung tâm đào tạo nhỏ chỉ cần ba việc: soạn nội dung, học và tự đánh giá, kiểm soát chất lượng trước khi công bố.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Đề tài đủ nhỏ để hoàn thành, đủ phức tạp để chạm vào những vấn đề thật của hệ thống nhiều người dùng.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55080" y="1737360"/>
            <a:ext cx="5212080" cy="4114800"/>
          </a:xfrm>
          <a:prstGeom prst="roundRect">
            <a:avLst>
              <a:gd name="adj" fmla="val 2667"/>
            </a:avLst>
          </a:prstGeom>
          <a:solidFill>
            <a:srgbClr val="1E2761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67512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Mục tiêu của đồ án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675120" y="242316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thống hoàn chỉnh, chạy thật trên Internet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Đủ chức năng của ba vai trò theo đề tài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Ràng buộc toàn vẹn đặt ở tầng cơ sở dữ liệu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tính năng AI có kiểm duyệt đầu ra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thử tự động chạy được trong CI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Đóng gói Docker và triển khai lên đám mây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Phạm vi: ba vai trò, thang điểm 4 – 4 – 2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737360"/>
            <a:ext cx="3566160" cy="4160520"/>
          </a:xfrm>
          <a:prstGeom prst="roundRect">
            <a:avLst>
              <a:gd name="adj" fmla="val 3077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737360"/>
            <a:ext cx="3566160" cy="9144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874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Học viên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971800" y="18105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E8B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4,0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68680" y="2834640"/>
            <a:ext cx="3017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Tìm và lọc khóa học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Ghi danh khóa miễn phí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theo lộ trình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Làm quiz, xem điểm, làm lại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 dõi tiến độ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giải thích đáp án sai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89120" y="1737360"/>
            <a:ext cx="3566160" cy="4160520"/>
          </a:xfrm>
          <a:prstGeom prst="roundRect">
            <a:avLst>
              <a:gd name="adj" fmla="val 3077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89120" y="1737360"/>
            <a:ext cx="3566160" cy="9144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1874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Giảng viên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766560" y="18105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E8B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4,0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663440" y="2834640"/>
            <a:ext cx="3017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khóa học và bài học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Sắp xếp thứ tự bài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quiz 4 đáp án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sinh câu hỏi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Gửi khóa học chờ duyệt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Thống kê lớp học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83880" y="1737360"/>
            <a:ext cx="3566160" cy="4160520"/>
          </a:xfrm>
          <a:prstGeom prst="roundRect">
            <a:avLst>
              <a:gd name="adj" fmla="val 3077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183880" y="1737360"/>
            <a:ext cx="3566160" cy="9144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58200" y="1874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Quản trị viên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10561320" y="18105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E8B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2,0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458200" y="2834640"/>
            <a:ext cx="3017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Duyệt / từ chối khóa học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Gỡ khóa đang công khai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Quản lý danh mục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Khóa tài khoản vi phạm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Thống kê toàn hệ thống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94360" y="60533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Điểm cuối API: 46 · Bảng dữ liệu: 11 · Màn hình: 21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Công nghệ và lý do lựa chọn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88720" y="170992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TypeScript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480560" y="173736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 hai đầu — bắt lỗi kiểu lúc biên dịch, dùng chung kiểu dữ liệu API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5054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505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88720" y="2432304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Node.js + Express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480560" y="2459736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Chuỗi middleware rõ ràng: bảo vệ trước, nghiệp vụ sau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22783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227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88720" y="315468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Prisma + PostgreSQL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80560" y="318211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Lược đồ là nguồn sự thật; `select` chặn rò rỉ dữ liệu ngay tại truy vấn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395020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88720" y="387705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React 19 + Vite + MUI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480560" y="390448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Ứng dụng một trang, đáp ứng nhiều kích thước màn hình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467258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672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188720" y="4599432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Yup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480560" y="462686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Một thư viện kiểm chứng cho cả hai đầu; loại bỏ trường lạ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539496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394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188720" y="532180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Docker · Render · Vercel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480560" y="534924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Môi trường đồng nhất; triển khai lặp lại được bằng tệp cấu hình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Kiến trúc ba tầng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5852160" cy="401421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0" y="18288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Tầng trình bày — Vercel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858000" y="2139696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Ứng dụng một trang React; axios tự gắn và tự làm mới token.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858000" y="28529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Tầng ứng dụng — Render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858000" y="3163824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Toàn bộ nghiệp vụ, quyền hạn và tính đúng đắn của dữ liệu.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858000" y="387705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Tầng dữ liệu — PostgreSQL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858000" y="4187952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Chín ràng buộc duy nhất đặt ngay tại cơ sở dữ liệu.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858000" y="490118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Gemini nằm ngoài hệ thống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858000" y="521208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 tầng ứng dụng gọi; khóa API không bao giờ xuống trình duyệt.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Cơ sở dữ liệu: 11 bảng, ràng buộc đặt đúng tầng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08760"/>
            <a:ext cx="11155680" cy="383133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94360" y="5623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UNIQUE(lesson_id) → quan hệ 1–1 giữa bài học và quiz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434840" y="5623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UNIQUE(course_id, order) → không hai bài trùng thứ tự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275320" y="5623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UNIQUE(student_id, course_id) → không ghi danh trùng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Vòng đời khóa học là một máy trạng thái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920240"/>
            <a:ext cx="10789920" cy="1911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" y="4206240"/>
            <a:ext cx="5394960" cy="1691640"/>
          </a:xfrm>
          <a:prstGeom prst="roundRect">
            <a:avLst>
              <a:gd name="adj" fmla="val 6486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14400" y="43891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Vì sao không dùng một cờ đúng/sai?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14400" y="47548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Một cờ is_published không diễn tả được trạng thái “đã gửi, đang chờ duyệt” — vốn chính là yêu cầu trọng tâm của vai trò quản trị viên.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355080" y="4206240"/>
            <a:ext cx="5212080" cy="1691640"/>
          </a:xfrm>
          <a:prstGeom prst="roundRect">
            <a:avLst>
              <a:gd name="adj" fmla="val 6486"/>
            </a:avLst>
          </a:prstGeom>
          <a:solidFill>
            <a:srgbClr val="1E2761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675120" y="4389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Một bảng luật, hai nơi dùng chung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675120" y="475488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Giảng viên và quản trị viên đọc cùng một bảng chuyển trạng thái, nên không thể hiểu luật khác nhau. Đủ 16 tổ hợp đã được kiểm thử.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QUYẾT ĐỊNH KỸ THUẬT SỐ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105156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Đáp án đúng không bao giờ rời khỏi máy chủ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48840"/>
            <a:ext cx="5943600" cy="2788920"/>
          </a:xfrm>
          <a:prstGeom prst="roundRect">
            <a:avLst>
              <a:gd name="adj" fmla="val 3279"/>
            </a:avLst>
          </a:prstGeom>
          <a:solidFill>
            <a:srgbClr val="0E1436"/>
          </a:solidFill>
          <a:ln w="12700">
            <a:solidFill>
              <a:srgbClr val="2A357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331720"/>
            <a:ext cx="54864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8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select: {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8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id: true, text: true, order: true,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8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KHÔNG có isCorrect ở đây — cố ý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8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choices: {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8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select: { id: true, text: true }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8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C8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040880" y="21945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B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phải “ẩn khi hiển thị”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040880" y="2523744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Cột isCorrect không được đọc lên khỏi cơ sở dữ liệu trong luồng lấy đề.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040880" y="3154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B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Được máy chứng minh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040880" y="3483864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Bộ kiểm thử gọi HTTP thật rồi khẳng định chuỗi isCorrect không có trong phản hồi.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040880" y="4114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B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Kiểm tra kết quả, không kiểm tra ý định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040880" y="4443984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Phép thử vẫn đúng sau mỗi lần sửa mã nguồn.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52578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E9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Chứng minh trực tiếp khi demo: mở tab Mạng của trình duyệt.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QUYẾT ĐỊNH KỸ THUẬT SỐ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Chấm điểm chỉ diễn ra ở máy chủ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1892808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25880" y="1819656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Trình duyệt gửi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25880" y="2130552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 [{questionId, choiceId}]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2350008"/>
            <a:ext cx="0" cy="384048"/>
          </a:xfrm>
          <a:prstGeom prst="line">
            <a:avLst/>
          </a:prstGeom>
          <a:noFill/>
          <a:ln w="19050">
            <a:solidFill>
              <a:srgbClr val="C3CBE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2734056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7340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325880" y="2660904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Middleware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25880" y="2971800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xác thực · phân quyền · Yup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400" y="3191256"/>
            <a:ext cx="0" cy="384048"/>
          </a:xfrm>
          <a:prstGeom prst="line">
            <a:avLst/>
          </a:prstGeom>
          <a:noFill/>
          <a:ln w="19050">
            <a:solidFill>
              <a:srgbClr val="C3CBE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3575304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35753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325880" y="350215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Máy chủ đọc đề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25880" y="3813048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kèm cờ đáp án đúng — chỉ trong bộ nhớ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14400" y="4032504"/>
            <a:ext cx="0" cy="384048"/>
          </a:xfrm>
          <a:prstGeom prst="line">
            <a:avLst/>
          </a:prstGeom>
          <a:noFill/>
          <a:ln w="19050">
            <a:solidFill>
              <a:srgbClr val="C3CBE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5800" y="4416552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4416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325880" y="434340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Hàm chấm thuần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25880" y="4654296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gradeQuiz(questions, answers)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14400" y="4873752"/>
            <a:ext cx="0" cy="384048"/>
          </a:xfrm>
          <a:prstGeom prst="line">
            <a:avLst/>
          </a:prstGeom>
          <a:noFill/>
          <a:ln w="19050">
            <a:solidFill>
              <a:srgbClr val="C3CBE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5800" y="5257800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325880" y="518464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Lưu một giao dịch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325880" y="5495544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lượt nộp + từng câu trả lời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635240" y="1737360"/>
            <a:ext cx="3931920" cy="1298448"/>
          </a:xfrm>
          <a:prstGeom prst="roundRect">
            <a:avLst>
              <a:gd name="adj" fmla="val 8451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863840" y="186537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Bẫy 1 — mẫu số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7863840" y="217627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Duyệt theo danh sách câu hỏi thật trong đề, không duyệt theo bài làm. Bỏ trống 3 câu không biến đề 5 câu thành đề 2 câu.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7635240" y="3200400"/>
            <a:ext cx="3931920" cy="1298448"/>
          </a:xfrm>
          <a:prstGeom prst="roundRect">
            <a:avLst>
              <a:gd name="adj" fmla="val 8451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7863840" y="332841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Bẫy 2 — mã đáp án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863840" y="363931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Đáp án đã chọn phải thuộc đúng câu hỏi đó. Gửi mã đáp án của câu khác bị coi là bỏ trống.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7635240" y="4663440"/>
            <a:ext cx="3931920" cy="1298448"/>
          </a:xfrm>
          <a:prstGeom prst="roundRect">
            <a:avLst>
              <a:gd name="adj" fmla="val 8451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7863840" y="479145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Gửi kèm score = 100?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7863840" y="510235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lạ bị loại bỏ. Máy chủ vẫn chấm ra điểm thật — có phép kiểm thử riêng cho tình huống này.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Tích hợp AI: ba tính năng, một nguyên tắc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9164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74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Sinh câu hỏi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2240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Giảng viên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68680" y="25603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 trả bản nháp — AI không ghi vào cơ sở dữ liệu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89120" y="169164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63440" y="1874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Giải thích đáp án sai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663440" y="2240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viên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663440" y="25603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Lưu lại kết quả; lần thứ hai không gọi lại Gemini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83880" y="169164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58200" y="1874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Tóm tắt bài học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458200" y="2240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viên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458200" y="25603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 ý, luôn kèm ghi chú nguồn gốc AI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4360" y="3886200"/>
            <a:ext cx="10927080" cy="2011680"/>
          </a:xfrm>
          <a:prstGeom prst="roundRect">
            <a:avLst>
              <a:gd name="adj" fmla="val 5455"/>
            </a:avLst>
          </a:prstGeom>
          <a:solidFill>
            <a:srgbClr val="1E2761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4400" y="411480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Nguyên tắc: đầu ra của AI là dữ liệu không đáng tin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4400" y="452628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Câu hỏi do Gemini sinh được kiểm chứng bằng đúng lược đồ dùng cho câu hỏi giảng viên gõ tay: đúng 4 đáp án, đúng 1 đáp án đúng.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đáp án hoặc hai đáp án đúng → chặn ở mã 422, không tới tay giảng viên.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Thiếu khóa API → các nút AI bị làm mờ, phần còn lại của hệ thống vẫn chạy bình thường.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Kiểm thử tự động: 344 / 344 phép khẳng định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91640"/>
          <a:ext cx="64008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315200" y="173736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lớp kiểm thử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315200" y="204825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Hàm thuần → nghiệp vụ → HTTP thật qua toàn bộ chuỗi middleware.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315200" y="278892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cần cơ sở dữ liệu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315200" y="309981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được thay bằng bản giả lập trong bộ nhớ — CI chạy xong trong khoảng một phút.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315200" y="384048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Bản giả lập tôn trọng select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315200" y="415137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Nếu không, phép thử “không rò rỉ đáp án” sẽ mất hết giá trị chứng minh.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315200" y="489204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Đã tìm ra lỗi thật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0" y="520293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Luật mở khóa bài học từng cho phép trạng thái vô lý; kiểm thử phát hiện trước khi có người dùng.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Đóng gói, tích hợp liên tục và triển khai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37360"/>
            <a:ext cx="10789920" cy="3054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" y="49377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50392" y="5074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Docker hai giai đoạn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850392" y="536752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Ảnh không chứa mã TypeScript, chạy bằng người dùng thường chứ không phải root.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389120" y="49377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645152" y="5074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nhóm kiểm tra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4645152" y="536752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Back-end · Front-end · Bảo mật (chặn nếu tệp .env từng bị đưa lên git).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83880" y="49377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439912" y="5074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Vercel (FE) + Render (BE)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8439912" y="536752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diện không bao giờ ngủ nên mở tức thì; máy chủ kịp thức dậy trong lúc người dùng đọc trang chủ.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TRÌNH DIỄN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Kịch bản demo — 8 phút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45920"/>
            <a:ext cx="868680" cy="475488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64592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645920" y="171907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Khách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383280" y="17190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Duyệt và lọc danh sách khóa học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" y="2267712"/>
            <a:ext cx="868680" cy="475488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2267712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645920" y="2340864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Học viên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83280" y="2340864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Ghi danh, học bài 1, tiến độ tăng, bài 2 mở khóa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94360" y="2889504"/>
            <a:ext cx="868680" cy="475488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889504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645920" y="2962656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Học viên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383280" y="2962656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Làm quiz, cố tình sai một câu, nộp, xem lại đáp án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4360" y="3511296"/>
            <a:ext cx="868680" cy="475488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511296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645920" y="35844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Học viên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383280" y="358444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Bấm “Vì sao sai?”, rồi bấm lại — lần hai lấy từ bản đã lưu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" y="4133088"/>
            <a:ext cx="868680" cy="475488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4133088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5–6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645920" y="420624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Giảng viên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383280" y="420624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sinh 5 câu hỏi, sửa một câu rồi lưu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94360" y="4754880"/>
            <a:ext cx="868680" cy="475488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" y="475488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6–7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645920" y="482803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Quản trị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383280" y="482803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Duyệt khóa đang chờ — hiển thị công khai ngay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94360" y="5376672"/>
            <a:ext cx="868680" cy="475488"/>
          </a:xfrm>
          <a:prstGeom prst="roundRect">
            <a:avLst>
              <a:gd name="adj" fmla="val 15385"/>
            </a:avLst>
          </a:prstGeom>
          <a:solidFill>
            <a:srgbClr val="E8B65A"/>
          </a:solidFill>
          <a:ln w="12700">
            <a:solidFill>
              <a:srgbClr val="E8B65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" y="5376672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7–8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645920" y="5449824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Kỹ thuật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383280" y="5449824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 tab Mạng: phản hồi không chứa isCorrect · mở /health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94360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Dự phòng: ping /health trước 30 phút để đánh thức dịch vụ; chuẩn bị ảnh chụp kết quả AI phòng khi hết hạn mức.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quả đạt được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737360"/>
            <a:ext cx="2606040" cy="1691640"/>
          </a:xfrm>
          <a:prstGeom prst="roundRect">
            <a:avLst>
              <a:gd name="adj" fmla="val 6486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87452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344/344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31520" y="26974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phép kiểm thử đạt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29000" y="1737360"/>
            <a:ext cx="2606040" cy="1691640"/>
          </a:xfrm>
          <a:prstGeom prst="roundRect">
            <a:avLst>
              <a:gd name="adj" fmla="val 6486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566160" y="187452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566160" y="26974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bảng dữ liệu, 9 ràng buộc duy nhất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737360"/>
            <a:ext cx="2606040" cy="1691640"/>
          </a:xfrm>
          <a:prstGeom prst="roundRect">
            <a:avLst>
              <a:gd name="adj" fmla="val 6486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00800" y="187452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400800" y="26974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điểm cuối API trên /api/v1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98280" y="1737360"/>
            <a:ext cx="2606040" cy="1691640"/>
          </a:xfrm>
          <a:prstGeom prst="roundRect">
            <a:avLst>
              <a:gd name="adj" fmla="val 6486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235440" y="187452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10.084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235440" y="26974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dòng mã nguồn TypeScript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94360" y="3703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điểm có giá trị kỹ thuật cao nhất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94360" y="4160520"/>
            <a:ext cx="10927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Ranh giới tin cậy vạch rõ và được máy chứng minh — khẳng định “đáp án không rời khỏi máy chủ” được kiểm chứng lại sau mỗi lần sửa mã.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Ràng buộc toàn vẹn đặt ở tầng cơ sở dữ liệu, nên vẫn đúng khi có nhiều yêu cầu đồng thời.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tắc nghiệp vụ tách thành hàm thuần — kiểm thử được tức thì, và đã giúp phát hiện một lỗi lô-gic thật.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Hạn chế và hướng phát triển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737360"/>
            <a:ext cx="5394960" cy="4114800"/>
          </a:xfrm>
          <a:prstGeom prst="roundRect">
            <a:avLst>
              <a:gd name="adj" fmla="val 2667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Hạn chế — nêu trung thực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14400" y="242316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Chưa đo hiệu năng dưới tải thật; kết luận về số truy vấn dựa trên phân tích.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Chưa đo độ bao phủ kiểm thử bằng công cụ — bộ test thiết kế theo rủi ro nghiệp vụ.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Chất lượng nội dung AI sinh chưa đánh giá định lượng; hệ thống chỉ bảo đảm cấu trúc hợp lệ.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55080" y="1737360"/>
            <a:ext cx="5212080" cy="4114800"/>
          </a:xfrm>
          <a:prstGeom prst="roundRect">
            <a:avLst>
              <a:gd name="adj" fmla="val 2667"/>
            </a:avLst>
          </a:prstGeom>
          <a:solidFill>
            <a:srgbClr val="1E2761"/>
          </a:solidFill>
          <a:ln w="12700">
            <a:solidFill>
              <a:srgbClr val="E1E6F2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67512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Hướng phát triển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675120" y="2423160"/>
            <a:ext cx="4572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Ngân hàng câu hỏi, sinh đề ngẫu nhiên mỗi lượt làm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Chấm điểm có trọng số và giới hạn thời gian làm bài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Nhật ký thao tác quản trị: ai duyệt, ai khóa, lúc nào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Chứng chỉ hoàn thành khóa học dạng PDF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thử giao diện đầu–cuối tự động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Gợi ý ôn tập dựa trên các câu đã trả lời sai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3840480"/>
            <a:ext cx="4754880" cy="47548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-1097280"/>
            <a:ext cx="4023360" cy="40233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24688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Xin cảm ơn quý thầy cô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109728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xin lắng nghe nhận xét và câu hỏi.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097280" y="57607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E9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LearnQuiz  ·  Đồ án tốt nghiệp Lập trình viên Full-stack JavaScript — Khóa 312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LearnQuiz — Nền tảng học tập và quiz trực tuyến</dc:title>
  <dc:subject>PptxGenJS Presentation</dc:subject>
  <dc:creator>LearnQuiz K312</dc:creator>
  <cp:lastModifiedBy>LearnQuiz K312</cp:lastModifiedBy>
  <cp:revision>1</cp:revision>
  <dcterms:created xsi:type="dcterms:W3CDTF">2026-09-01T14:35:17Z</dcterms:created>
  <dcterms:modified xsi:type="dcterms:W3CDTF">2026-09-01T14:35:17Z</dcterms:modified>
</cp:coreProperties>
</file>