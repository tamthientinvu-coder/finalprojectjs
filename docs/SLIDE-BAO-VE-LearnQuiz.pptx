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e959b62957e4750" Type="http://schemas.openxmlformats.org/officeDocument/2006/relationships/custom-properties" Target="docProps/custom.xml"/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 xmlns:a="http://schemas.openxmlformats.org/drawingml/2006/main" xmlns:r="http://schemas.openxmlformats.org/officeDocument/2006/relationships" xmlns:p="http://schemas.openxmlformats.org/presentationml/2006/main">
    <p:sldMasterId id="2147483648" r:id="rId1"/>
  </p:sldMasterIdLst>
  <p:sldIdLst xmlns:a="http://schemas.openxmlformats.org/drawingml/2006/main" xmlns:r="http://schemas.openxmlformats.org/officeDocument/2006/relationships" xmlns:p="http://schemas.openxmlformats.org/presentationml/2006/main"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xmlns:a="http://schemas.openxmlformats.org/drawingml/2006/main" xmlns:r="http://schemas.openxmlformats.org/officeDocument/2006/relationships" xmlns:p="http://schemas.openxmlformats.org/presentationml/2006/main" cx="12192000" cy="6858000"/>
  <p:notesSz xmlns:a="http://schemas.openxmlformats.org/drawingml/2006/main" xmlns:r="http://schemas.openxmlformats.org/officeDocument/2006/relationships" xmlns:p="http://schemas.openxmlformats.org/presentationml/2006/main" cx="6858000" cy="12192000"/>
  <p:defaultTextStyle xmlns:a="http://schemas.openxmlformats.org/drawingml/2006/main" xmlns:r="http://schemas.openxmlformats.org/officeDocument/2006/relationships" xmlns:p="http://schemas.openxmlformats.org/presentationml/2006/main"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phép khẳng định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1B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grader</c:v>
                </c:pt>
                <c:pt idx="1">
                  <c:v>workflow</c:v>
                </c:pt>
                <c:pt idx="2">
                  <c:v>schema</c:v>
                </c:pt>
                <c:pt idx="3">
                  <c:v>gemini</c:v>
                </c:pt>
                <c:pt idx="4">
                  <c:v>quizService</c:v>
                </c:pt>
                <c:pt idx="5">
                  <c:v>adminService</c:v>
                </c:pt>
                <c:pt idx="6">
                  <c:v>aiService</c:v>
                </c:pt>
                <c:pt idx="7">
                  <c:v>HTTP + hồi quy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24.0</c:v>
                </c:pt>
                <c:pt idx="1">
                  <c:v>30.0</c:v>
                </c:pt>
                <c:pt idx="2">
                  <c:v>31.0</c:v>
                </c:pt>
                <c:pt idx="3">
                  <c:v>18.0</c:v>
                </c:pt>
                <c:pt idx="4">
                  <c:v>49.0</c:v>
                </c:pt>
                <c:pt idx="5">
                  <c:v>76.0</c:v>
                </c:pt>
                <c:pt idx="6">
                  <c:v>36.0</c:v>
                </c:pt>
                <c:pt idx="7">
                  <c:v>93.0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0" i="0" u="none" strike="noStrike">
                  <a:solidFill>
                    <a:srgbClr val="1B1B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0"/>
        <c:axPos val="b"/>
        <c:majorGridlines>
          <c:spPr>
            <a:ln w="12700" cap="flat">
              <a:solidFill>
                <a:srgbClr val="E6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thầy cô. Em xin trình bày đồ án LearnQuiz — nền tảng học tập và quiz trực tuyến, đề tài số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tầng triển khai độc lập. Trình duyệt không bao giờ gọi thẳng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TỐT NGHIỆP  ·  ĐỀ TÀI SỐ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LearnQuiz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Nền tảng học tập và quiz trực tuyến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 thực hiện: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TÂM THIỆN TÍN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4553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LÊ HOÀNG THÔNG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viên Full-stack JavaScript — Khóa 312  ·  Trung Tâm Tin Học, ĐH Khoa học Tự nhiên, ĐHQG-HCM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50392" y="20116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và phạm vi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vai trò, thang điểm 4 – 4 –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65392" y="20116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65392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và cơ sở dữ liệu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313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tầng · 11 bảng · 9 ràng buộc toàn vẹn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172968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0392" y="3493008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0392" y="3493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410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quyết định kỹ thuật cốt lõi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rò rỉ đáp án · chấm ở máy chủ · máy trạng thái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72968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65392" y="3493008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65392" y="3493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3410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AI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tính năng Gemini và nguyên tắc kiểm duyệt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654296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50392" y="4974336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0392" y="4974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4892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và triển khai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5276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 phép kiểm · Docker · CI/CD · Render + Vercel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54296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65392" y="4974336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65392" y="4974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4892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trực tiếp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0" y="5276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phút đi qua đủ ba vai trò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và mục tiêu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Nhu cầu thực tế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thương mại thừa tính năng: thanh toán, tiếp thị, quy mô lớn.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đào tạo nhỏ chỉ cần ba việc: soạn nội dung, học và tự đánh giá, kiểm soát chất lượng trước khi công bố.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đủ nhỏ để hoàn thành, đủ phức tạp để chạm vào những vấn đề thật của hệ thống nhiều người dùng.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của đồ án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hoàn chỉnh, chạy thật trên Internet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chức năng của ba vai trò theo đề tài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toàn vẹn đặt ở tầng cơ sở dữ liệu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tính năng AI có kiểm duyệt đầu ra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tự động chạy được trong CI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Docker và triển khai lên đám mây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vi: ba vai trò, thang điểm 4 – 4 –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7373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71800" y="1810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B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và lọc khóa học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danh khóa miễn phí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theo lộ trình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quiz, xem điểm, làm lại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giải thích đáp án sai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Giảng viên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0" y="1810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B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khóa học và bài học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thứ tự bài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quiz 4 đáp án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sinh câu hỏi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khóa học chờ duyệt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lớp học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582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viên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561320" y="1810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B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58200" y="28346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/ từ chối khóa học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Gỡ khóa đang công khai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tài khoản vi phạm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toàn hệ thống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cuối API: 46 · Bảng dữ liệu: 11 · Màn hình: 21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và lý do lựa chọn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709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7373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đầu — bắt lỗi kiểu lúc biên dịch, dùng chung kiểu dữ liệu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432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4597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middleware rõ ràng: bảo vệ trước, nghiệp vụ sau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+ PostgreSQL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1821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Lược đồ là nguồn sự thật; `select` chặn rò rỉ dữ liệu ngay tại truy vấn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5020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8770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Vite + MUI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39044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một trang, đáp ứng nhiều kích thước màn hình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7258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599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46268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thư viện kiểm chứng cho cả hai đầu; loại bỏ trường lạ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5321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· Render · Vercel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5349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đồng nhất; triển khai lặp lại được bằng tệp cấu hình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ba tầng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852160" cy="4014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trình bày — Vercel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0" y="21396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một trang React; axios tự gắn và tự làm mới token.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0" y="2852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ứng dụng — Render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0" y="31638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nghiệp vụ, quyền hạn và tính đúng đắn của dữ liệu.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0" y="38770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dữ liệu — PostgreSQL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0" y="41879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 ràng buộc duy nhất đặt ngay tại cơ sở dữ liệu.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0" y="4901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nằm ngoài hệ thống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0" y="5212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tầng ứng dụng gọi; khóa API không bao giờ xuống trình duyệt.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sở dữ liệu: 11 bảng, ràng buộc đặt đúng tầng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1155680" cy="3831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623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UNIQUE(lesson_id) → quan hệ 1–1 giữa bài học và quiz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34840" y="5623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UNIQUE(course_id, order) → không hai bài trùng thứ tự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75320" y="5623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UNIQUE(student_id, course_id) → không ghi danh trùng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đời khóa học là một máy trạng thái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10789920" cy="1911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420624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không dùng một cờ đúng/sai?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cờ is_published không diễn tả được trạng thái “đã gửi, đang chờ duyệt” — vốn chính là yêu cầu trọng tâm của vai trò quản trị viên.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420624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67512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bảng luật, hai nơi dùng chung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75120" y="4754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và quản trị viên đọc cùng một bảng chuyển trạng thái, nên không thể hiểu luật khác nhau. Đủ 16 tổ hợp đã được kiểm thử.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KỸ THUẬT SỐ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Đáp án đúng không bao giờ rời khỏi máy chủ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943600" cy="2788920"/>
          </a:xfrm>
          <a:prstGeom prst="roundRect">
            <a:avLst>
              <a:gd name="adj" fmla="val 3279"/>
            </a:avLst>
          </a:prstGeom>
          <a:solidFill>
            <a:srgbClr val="0E1436"/>
          </a:solidFill>
          <a:ln w="12700">
            <a:solidFill>
              <a:srgbClr val="2A357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3317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select: {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true, text: true, order: true,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KHÔNG có isCorrect ở đây — cố ý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choices: {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select: { id: true, text: true }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phải “ẩn khi hiển thị”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0" y="25237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isCorrect không được đọc lên khỏi cơ sở dữ liệu trong luồng lấy đề.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Được máy chứng minh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34838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kiểm thử gọi HTTP thật rồi khẳng định chuỗi isCorrect không có trong phản hồi.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kết quả, không kiểm tra ý định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444398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 thử vẫn đúng sau mỗi lần sửa mã nguồn.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trực tiếp khi demo: mở tab Mạng của trình duyệt.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KỸ THUẬT SỐ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Chấm điểm chỉ diễn ra ở máy chủ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928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819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 duyệt gửi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[{questionId, choiceId}]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50008"/>
            <a:ext cx="0" cy="384048"/>
          </a:xfrm>
          <a:prstGeom prst="line">
            <a:avLst/>
          </a:prstGeom>
          <a:noFill/>
          <a:ln w="19050">
            <a:solidFill>
              <a:srgbClr val="C3CB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7340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660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9718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· phân quyền · Yup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191256"/>
            <a:ext cx="0" cy="384048"/>
          </a:xfrm>
          <a:prstGeom prst="line">
            <a:avLst/>
          </a:prstGeom>
          <a:noFill/>
          <a:ln w="19050">
            <a:solidFill>
              <a:srgbClr val="C3CB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85800" y="35753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502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Máy chủ đọc đề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81304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cờ đáp án đúng — chỉ trong bộ nhớ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032504"/>
            <a:ext cx="0" cy="384048"/>
          </a:xfrm>
          <a:prstGeom prst="line">
            <a:avLst/>
          </a:prstGeom>
          <a:noFill/>
          <a:ln w="19050">
            <a:solidFill>
              <a:srgbClr val="C3CBE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85800" y="4416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343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Hàm chấm thuần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65429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gradeQuiz(questions, answers)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873752"/>
            <a:ext cx="0" cy="384048"/>
          </a:xfrm>
          <a:prstGeom prst="line">
            <a:avLst/>
          </a:prstGeom>
          <a:noFill/>
          <a:ln w="19050">
            <a:solidFill>
              <a:srgbClr val="C3CBE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184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một giao dịch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4955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nộp + từng câu trả lời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1737360"/>
            <a:ext cx="393192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863840" y="1865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Bẫy 1 — mẫu số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63840" y="21762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theo danh sách câu hỏi thật trong đề, không duyệt theo bài làm. Bỏ trống 3 câu không biến đề 5 câu thành đề 2 câu.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35240" y="3200400"/>
            <a:ext cx="393192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863840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Bẫy 2 — mã đáp án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863840" y="36393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 đã chọn phải thuộc đúng câu hỏi đó. Gửi mã đáp án của câu khác bị coi là bỏ trống.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35240" y="4663440"/>
            <a:ext cx="393192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863840" y="4791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Gửi kèm score = 100?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63840" y="51023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lạ bị loại bỏ. Máy chủ vẫn chấm ra điểm thật — có phép kiểm thử riêng cho tình huống này.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AI: ba tính năng, một nguyên tắc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 hỏi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trả bản nháp — AI không ghi vào cơ sở dữ liệu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thích đáp án sai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lại kết quả; lần thứ hai không gọi lại Gemini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5820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Tóm tắt bài học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582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58200" y="2560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ý, luôn kèm ghi chú nguồn gốc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09270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4114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tắc: đầu ra của AI là dữ liệu không đáng tin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do Gemini sinh được kiểm chứng bằng đúng lược đồ dùng cho câu hỏi giảng viên gõ tay: đúng 4 đáp án, đúng 1 đáp án đúng.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đáp án hoặc hai đáp án đúng → chặn ở mã 422, không tới tay giảng viên.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khóa API → các nút AI bị làm mờ, phần còn lại của hệ thống vẫn chạy bình thường.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tự động: 357 / 357 phép khẳng định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lớp kiểm thử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0" y="204825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thuần → nghiệp vụ → HTTP thật qua toàn bộ chuỗi middleware.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2788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cần cơ sở dữ liệu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0" y="30998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được thay bằng bản giả lập trong bộ nhớ — CI chạy xong trong khoảng một phút.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3840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giả lập tôn trọng select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0" y="41513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không, phép thử “không rò rỉ đáp án” sẽ mất hết giá trị chứng minh.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4892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tìm ra lỗi thật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0" y="520293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mở khóa bài học từng cho phép trạng thái vô lý; kiểm thử phát hiện trước khi có người dùng.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gói, tích hợp liên tục và triển khai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10789920" cy="3054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49377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50392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hai giai đoạn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0392" y="53675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không chứa mã TypeScript, chạy bằng người dùng thường chứ không phải root.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49377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645152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nhóm kiểm tra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645152" y="53675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· Front-end · Bảo mật (chặn nếu tệp .env từng bị đưa lên git).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83880" y="49377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439912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(FE) + Render (BE)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439912" y="53675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không bao giờ ngủ nên mở tức thì; máy chủ kịp thức dậy trong lúc người dùng đọc trang chủ.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DIỄN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demo — 8 phút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459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719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7190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và lọc danh sách khóa học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226771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3408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408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danh, học bài 1, tiến độ tăng, bài 2 mở khóa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89504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88950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9626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9626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quiz, cố tình sai một câu, nộp, xem lại đáp án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511296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51129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5844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584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“Vì sao sai?”, rồi bấm lại — lần hai lấy từ bản đã lưu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133088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3308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062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Giảng viên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4206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sinh 5 câu hỏi, sửa một câu rồi lưu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754880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7548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828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4828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khóa đang chờ — hiển thị công khai ngay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376672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E8B65A"/>
          </a:solidFill>
          <a:ln w="12700">
            <a:solidFill>
              <a:srgbClr val="E8B65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3766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45920" y="54498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thuật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5449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tab Mạng: phản hồi không chứa isCorrect · mở /health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phòng: ping /health trước 30 phút để đánh thức dịch vụ; chuẩn bị ảnh chụp kết quả AI phòng khi hết hạn mức.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357/357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 kiểm thử đạt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liệu, 9 ràng buộc duy nhất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cuối API trên /api/v1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9828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3544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10.522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354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mã nguồn TypeScript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điểm có giá trị kỹ thuật cao nhất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10927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Ranh giới tin cậy vạch rõ và được máy chứng minh — khẳng định “đáp án không rời khỏi máy chủ” được kiểm chứng lại sau mỗi lần sửa mã.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toàn vẹn đặt ở tầng cơ sở dữ liệu, nên vẫn đúng khi có nhiều yêu cầu đồng thời.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nghiệp vụ tách thành hàm thuần — kiểm thử được tức thì, và đã giúp phát hiện một lỗi lô-gic thật.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và hướng phát triển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— nêu trung thực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đo hiệu năng dưới tải thật; kết luận về số truy vấn dựa trên phân tích.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đo độ bao phủ kiểm thử bằng công cụ — bộ test thiết kế theo rủi ro nghiệp vụ.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nội dung AI sinh chưa đánh giá định lượng; hệ thống chỉ bảo đảm cấu trúc hợp lệ.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cột khóa ngoại chưa có chỉ mục — đã rà đủ 15 cột, ghi lại quyết định kèm bằng chứng thay vì thêm vội.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blurRad="101600" dist="12700" dir="54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câu hỏi, sinh đề ngẫu nhiên mỗi lượt làm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có trọng số và giới hạn thời gian làm bài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thao tác quản trị: ai duyệt, ai khóa, lúc nào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chỉ hoàn thành khóa học dạng PDF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giao diện đầu–cuối tự động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ôn tập dựa trên các câu đã trả lời sai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cảm ơn quý thầy cô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xin lắng nghe nhận xét và câu hỏi.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LearnQuiz  ·  Đồ án tốt nghiệp Lập trình viên Full-stack JavaScript — Khóa 312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LearnQuiz — Nền tảng học tập và quiz trực tuyến</dc:title>
  <dc:subject>PptxGenJS Presentation</dc:subject>
  <dc:creator>LearnQuiz K312</dc:creator>
  <cp:lastModifiedBy>LearnQuiz K312</cp:lastModifiedBy>
  <cp:revision>1</cp:revision>
  <dcterms:created xsi:type="dcterms:W3CDTF">2026-09-01T14:35:17Z</dcterms:created>
  <dcterms:modified xsi:type="dcterms:W3CDTF">2026-09-01T14:35:17Z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1.0.146</vt:lpwstr>
  </op:property>
  <op:property fmtid="{D5CDD505-2E9C-101B-9397-08002B2CF9AE}" pid="3" name="OfficeCLI.LastModified">
    <vt:lpwstr xmlns:vt="http://schemas.openxmlformats.org/officeDocument/2006/docPropsVTypes">2026-09-01T15:08:48Z</vt:lpwstr>
  </op:property>
</op:Properties>
</file>